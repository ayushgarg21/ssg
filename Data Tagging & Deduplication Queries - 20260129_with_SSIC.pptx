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8" r:id="rId3"/>
    <p:sldId id="260" r:id="rId4"/>
    <p:sldId id="257" r:id="rId5"/>
    <p:sldId id="259" r:id="rId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4A047"/>
    <a:srgbClr val="34A148"/>
    <a:srgbClr val="4BFF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A692FF5-E6FC-438C-B58F-97A4CF5DC275}">
  <a:tblStyle styleId="{3A692FF5-E6FC-438C-B58F-97A4CF5DC27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–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–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88"/>
    <p:restoredTop sz="94504"/>
  </p:normalViewPr>
  <p:slideViewPr>
    <p:cSldViewPr snapToGrid="0">
      <p:cViewPr varScale="1">
        <p:scale>
          <a:sx n="119" d="100"/>
          <a:sy n="119" d="100"/>
        </p:scale>
        <p:origin x="192" y="5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37890f5852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37890f5852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6CB7F64F-AEE1-6DA6-4EB0-77AEE42B5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37890f5852_0_10:notes">
            <a:extLst>
              <a:ext uri="{FF2B5EF4-FFF2-40B4-BE49-F238E27FC236}">
                <a16:creationId xmlns:a16="http://schemas.microsoft.com/office/drawing/2014/main" id="{FC3F140F-1363-9527-09F2-EC6E01D6B0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37890f5852_0_10:notes">
            <a:extLst>
              <a:ext uri="{FF2B5EF4-FFF2-40B4-BE49-F238E27FC236}">
                <a16:creationId xmlns:a16="http://schemas.microsoft.com/office/drawing/2014/main" id="{55FBDE78-F82E-1C44-6D72-E1A1EA6ABD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25401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7890f585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7890f585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BD92A902-2F0D-E8C4-D6A6-05D7562DA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7890f5852_0_15:notes">
            <a:extLst>
              <a:ext uri="{FF2B5EF4-FFF2-40B4-BE49-F238E27FC236}">
                <a16:creationId xmlns:a16="http://schemas.microsoft.com/office/drawing/2014/main" id="{EBC95A58-9ACE-C75C-CB76-F7CF8CB6D9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7890f5852_0_15:notes">
            <a:extLst>
              <a:ext uri="{FF2B5EF4-FFF2-40B4-BE49-F238E27FC236}">
                <a16:creationId xmlns:a16="http://schemas.microsoft.com/office/drawing/2014/main" id="{437F12A0-7408-73CD-2679-6FF3F4719B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4442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" name="Picture 1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8961CC2D-A48E-ABC6-C24F-1C7D8650A2C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3046" y="98683"/>
            <a:ext cx="1496634" cy="25200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501AFF5-0D30-5567-30D7-7BDBB93859F0}"/>
              </a:ext>
            </a:extLst>
          </p:cNvPr>
          <p:cNvCxnSpPr/>
          <p:nvPr userDrawn="1"/>
        </p:nvCxnSpPr>
        <p:spPr>
          <a:xfrm>
            <a:off x="311700" y="997389"/>
            <a:ext cx="8378128" cy="0"/>
          </a:xfrm>
          <a:prstGeom prst="line">
            <a:avLst/>
          </a:prstGeom>
          <a:ln w="28575">
            <a:solidFill>
              <a:srgbClr val="34A1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nalytics.betalented.ai/public/dashboard/10ff3837-491c-41da-9c10-334e5d7c05a8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A74DED3-A356-907D-F5F3-D764D1DC73AD}"/>
              </a:ext>
            </a:extLst>
          </p:cNvPr>
          <p:cNvSpPr/>
          <p:nvPr/>
        </p:nvSpPr>
        <p:spPr>
          <a:xfrm>
            <a:off x="0" y="-25163"/>
            <a:ext cx="8310389" cy="5193825"/>
          </a:xfrm>
          <a:prstGeom prst="rect">
            <a:avLst/>
          </a:prstGeom>
          <a:solidFill>
            <a:srgbClr val="34A048">
              <a:alpha val="2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A379ED-806B-759D-7A8D-B2B09174FC8A}"/>
              </a:ext>
            </a:extLst>
          </p:cNvPr>
          <p:cNvSpPr/>
          <p:nvPr/>
        </p:nvSpPr>
        <p:spPr>
          <a:xfrm>
            <a:off x="4772666" y="0"/>
            <a:ext cx="4371333" cy="5143500"/>
          </a:xfrm>
          <a:prstGeom prst="rect">
            <a:avLst/>
          </a:prstGeom>
          <a:solidFill>
            <a:srgbClr val="34A048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D83063-81F2-1449-562D-5CB967D92421}"/>
              </a:ext>
            </a:extLst>
          </p:cNvPr>
          <p:cNvSpPr>
            <a:spLocks noChangeAspect="1"/>
          </p:cNvSpPr>
          <p:nvPr/>
        </p:nvSpPr>
        <p:spPr>
          <a:xfrm>
            <a:off x="4767380" y="1608992"/>
            <a:ext cx="4395779" cy="3534508"/>
          </a:xfrm>
          <a:prstGeom prst="rect">
            <a:avLst/>
          </a:prstGeom>
          <a:blipFill dpi="0" rotWithShape="1">
            <a:blip r:embed="rId3"/>
            <a:srcRect/>
            <a:stretch>
              <a:fillRect l="-969" t="-15902" r="-969" b="-1134"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F70644-BF41-B9F4-4EF2-EB04E3C88C16}"/>
              </a:ext>
            </a:extLst>
          </p:cNvPr>
          <p:cNvSpPr>
            <a:spLocks noChangeAspect="1"/>
          </p:cNvSpPr>
          <p:nvPr/>
        </p:nvSpPr>
        <p:spPr>
          <a:xfrm>
            <a:off x="6117853" y="601111"/>
            <a:ext cx="1776676" cy="406771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7" name="Google Shape;66;p15">
            <a:extLst>
              <a:ext uri="{FF2B5EF4-FFF2-40B4-BE49-F238E27FC236}">
                <a16:creationId xmlns:a16="http://schemas.microsoft.com/office/drawing/2014/main" id="{908BEA2F-E268-850B-35C0-04465508D85C}"/>
              </a:ext>
            </a:extLst>
          </p:cNvPr>
          <p:cNvSpPr txBox="1">
            <a:spLocks/>
          </p:cNvSpPr>
          <p:nvPr/>
        </p:nvSpPr>
        <p:spPr>
          <a:xfrm>
            <a:off x="217422" y="2029319"/>
            <a:ext cx="4337823" cy="1585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SG" sz="3200" dirty="0"/>
              <a:t>Data Tagging &amp; Deduplication Queries</a:t>
            </a:r>
          </a:p>
          <a:p>
            <a:endParaRPr lang="en-SG" sz="3200" dirty="0"/>
          </a:p>
          <a:p>
            <a:r>
              <a:rPr lang="en-SG" sz="3200" dirty="0">
                <a:solidFill>
                  <a:schemeClr val="tx1"/>
                </a:solidFill>
                <a:latin typeface="+mn-lt"/>
              </a:rPr>
              <a:t>29 Jan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SG" dirty="0" err="1">
                <a:solidFill>
                  <a:srgbClr val="34A047"/>
                </a:solidFill>
                <a:latin typeface="+mn-lt"/>
              </a:rPr>
              <a:t>JobTech</a:t>
            </a:r>
            <a:r>
              <a:rPr lang="en-SG" dirty="0">
                <a:solidFill>
                  <a:srgbClr val="34A047"/>
                </a:solidFill>
                <a:latin typeface="+mn-lt"/>
              </a:rPr>
              <a:t> – Company Description Extraction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4F672D7-3C19-4554-1D18-F11083FB0B49}"/>
              </a:ext>
            </a:extLst>
          </p:cNvPr>
          <p:cNvGrpSpPr/>
          <p:nvPr/>
        </p:nvGrpSpPr>
        <p:grpSpPr>
          <a:xfrm>
            <a:off x="160499" y="2657811"/>
            <a:ext cx="1549588" cy="907223"/>
            <a:chOff x="311701" y="1351883"/>
            <a:chExt cx="1549588" cy="907223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0B7EFB51-464F-B866-01D0-90CC1DB6B8E8}"/>
                </a:ext>
              </a:extLst>
            </p:cNvPr>
            <p:cNvSpPr/>
            <p:nvPr/>
          </p:nvSpPr>
          <p:spPr>
            <a:xfrm>
              <a:off x="311701" y="1351883"/>
              <a:ext cx="1549588" cy="907223"/>
            </a:xfrm>
            <a:prstGeom prst="roundRect">
              <a:avLst/>
            </a:prstGeom>
            <a:noFill/>
            <a:ln>
              <a:solidFill>
                <a:srgbClr val="34A0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E6DEAC6-6A1C-DA6A-1E26-3AC340ACA03B}"/>
                </a:ext>
              </a:extLst>
            </p:cNvPr>
            <p:cNvSpPr/>
            <p:nvPr/>
          </p:nvSpPr>
          <p:spPr>
            <a:xfrm>
              <a:off x="408790" y="1427189"/>
              <a:ext cx="236669" cy="231028"/>
            </a:xfrm>
            <a:prstGeom prst="ellipse">
              <a:avLst/>
            </a:prstGeom>
            <a:solidFill>
              <a:srgbClr val="34A04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1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E08C3C1-7B0E-551B-F433-2631818978A9}"/>
                </a:ext>
              </a:extLst>
            </p:cNvPr>
            <p:cNvSpPr txBox="1"/>
            <p:nvPr/>
          </p:nvSpPr>
          <p:spPr>
            <a:xfrm>
              <a:off x="311702" y="1564110"/>
              <a:ext cx="1549587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Cleaning of job descriptions</a:t>
              </a:r>
            </a:p>
            <a:p>
              <a:pPr algn="ctr"/>
              <a:r>
                <a:rPr lang="en-US" sz="900" dirty="0"/>
                <a:t>(html tags, PII)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3CB10E7-9ABA-24A8-9B75-3AADC0839AF3}"/>
              </a:ext>
            </a:extLst>
          </p:cNvPr>
          <p:cNvGrpSpPr/>
          <p:nvPr/>
        </p:nvGrpSpPr>
        <p:grpSpPr>
          <a:xfrm>
            <a:off x="1991120" y="2657810"/>
            <a:ext cx="1549588" cy="907223"/>
            <a:chOff x="311701" y="1351883"/>
            <a:chExt cx="1549588" cy="907223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C4E4512E-1937-631E-5723-931642F9DAF3}"/>
                </a:ext>
              </a:extLst>
            </p:cNvPr>
            <p:cNvSpPr/>
            <p:nvPr/>
          </p:nvSpPr>
          <p:spPr>
            <a:xfrm>
              <a:off x="311701" y="1351883"/>
              <a:ext cx="1549588" cy="907223"/>
            </a:xfrm>
            <a:prstGeom prst="roundRect">
              <a:avLst/>
            </a:prstGeom>
            <a:noFill/>
            <a:ln>
              <a:solidFill>
                <a:srgbClr val="34A0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228C43C-32E2-8B49-EF0F-ECF3C66074B1}"/>
                </a:ext>
              </a:extLst>
            </p:cNvPr>
            <p:cNvSpPr/>
            <p:nvPr/>
          </p:nvSpPr>
          <p:spPr>
            <a:xfrm>
              <a:off x="408790" y="1427189"/>
              <a:ext cx="236669" cy="231028"/>
            </a:xfrm>
            <a:prstGeom prst="ellipse">
              <a:avLst/>
            </a:prstGeom>
            <a:solidFill>
              <a:srgbClr val="34A04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2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274EE67-B8B2-3690-81AE-08D33E7B60FA}"/>
                </a:ext>
              </a:extLst>
            </p:cNvPr>
            <p:cNvSpPr txBox="1"/>
            <p:nvPr/>
          </p:nvSpPr>
          <p:spPr>
            <a:xfrm>
              <a:off x="311702" y="1564110"/>
              <a:ext cx="1549587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Chunking of job descriptions into list of sentences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5965B61-B38D-6362-434F-F49AC008EAFF}"/>
              </a:ext>
            </a:extLst>
          </p:cNvPr>
          <p:cNvGrpSpPr/>
          <p:nvPr/>
        </p:nvGrpSpPr>
        <p:grpSpPr>
          <a:xfrm>
            <a:off x="3938009" y="1232391"/>
            <a:ext cx="1549588" cy="907223"/>
            <a:chOff x="311701" y="1351883"/>
            <a:chExt cx="1549588" cy="907223"/>
          </a:xfrm>
        </p:grpSpPr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6CCD35CF-8551-9EC1-740F-7947C316BFAF}"/>
                </a:ext>
              </a:extLst>
            </p:cNvPr>
            <p:cNvSpPr/>
            <p:nvPr/>
          </p:nvSpPr>
          <p:spPr>
            <a:xfrm>
              <a:off x="311701" y="1351883"/>
              <a:ext cx="1549588" cy="907223"/>
            </a:xfrm>
            <a:prstGeom prst="roundRect">
              <a:avLst/>
            </a:prstGeom>
            <a:noFill/>
            <a:ln>
              <a:solidFill>
                <a:srgbClr val="34A0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D0EFEF5-7804-75B2-E2AF-6011762CDB96}"/>
                </a:ext>
              </a:extLst>
            </p:cNvPr>
            <p:cNvSpPr/>
            <p:nvPr/>
          </p:nvSpPr>
          <p:spPr>
            <a:xfrm>
              <a:off x="408790" y="1427189"/>
              <a:ext cx="236669" cy="231028"/>
            </a:xfrm>
            <a:prstGeom prst="ellipse">
              <a:avLst/>
            </a:prstGeom>
            <a:solidFill>
              <a:srgbClr val="34A04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3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2DB9EE2-6051-6661-BA72-C96ED005B9C1}"/>
                </a:ext>
              </a:extLst>
            </p:cNvPr>
            <p:cNvSpPr txBox="1"/>
            <p:nvPr/>
          </p:nvSpPr>
          <p:spPr>
            <a:xfrm>
              <a:off x="311702" y="1658217"/>
              <a:ext cx="1549587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Tagging of each sentence with LLM, with human in the loop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B7B8958-A497-2695-50D4-567AAF0BCCB7}"/>
              </a:ext>
            </a:extLst>
          </p:cNvPr>
          <p:cNvGrpSpPr/>
          <p:nvPr/>
        </p:nvGrpSpPr>
        <p:grpSpPr>
          <a:xfrm>
            <a:off x="5917632" y="1232390"/>
            <a:ext cx="1849388" cy="907223"/>
            <a:chOff x="311701" y="1351883"/>
            <a:chExt cx="1849388" cy="907223"/>
          </a:xfrm>
        </p:grpSpPr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7EA34935-A704-DE01-55F3-D44C50237E08}"/>
                </a:ext>
              </a:extLst>
            </p:cNvPr>
            <p:cNvSpPr/>
            <p:nvPr/>
          </p:nvSpPr>
          <p:spPr>
            <a:xfrm>
              <a:off x="311701" y="1351883"/>
              <a:ext cx="1849388" cy="907223"/>
            </a:xfrm>
            <a:prstGeom prst="roundRect">
              <a:avLst/>
            </a:prstGeom>
            <a:noFill/>
            <a:ln>
              <a:solidFill>
                <a:srgbClr val="34A0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3318388D-5465-FA8E-3D29-A4AC9FA749C7}"/>
                </a:ext>
              </a:extLst>
            </p:cNvPr>
            <p:cNvSpPr/>
            <p:nvPr/>
          </p:nvSpPr>
          <p:spPr>
            <a:xfrm>
              <a:off x="408790" y="1427189"/>
              <a:ext cx="236669" cy="231028"/>
            </a:xfrm>
            <a:prstGeom prst="ellipse">
              <a:avLst/>
            </a:prstGeom>
            <a:solidFill>
              <a:srgbClr val="34A04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4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5062698-F305-95E5-7000-D96E711F66D9}"/>
                </a:ext>
              </a:extLst>
            </p:cNvPr>
            <p:cNvSpPr txBox="1"/>
            <p:nvPr/>
          </p:nvSpPr>
          <p:spPr>
            <a:xfrm>
              <a:off x="527124" y="1590054"/>
              <a:ext cx="154958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Finetuning of BERT model with labelled data to categorize each sentence into categories</a:t>
              </a:r>
            </a:p>
          </p:txBody>
        </p:sp>
      </p:grp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4AAF32E7-7EC1-1D03-13FE-30144FA57EC0}"/>
              </a:ext>
            </a:extLst>
          </p:cNvPr>
          <p:cNvSpPr/>
          <p:nvPr/>
        </p:nvSpPr>
        <p:spPr>
          <a:xfrm>
            <a:off x="3657599" y="1119720"/>
            <a:ext cx="4475182" cy="1159103"/>
          </a:xfrm>
          <a:prstGeom prst="roundRect">
            <a:avLst/>
          </a:prstGeom>
          <a:noFill/>
          <a:ln w="50800">
            <a:solidFill>
              <a:schemeClr val="accent4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Large Language Models (LLMs)">
            <a:extLst>
              <a:ext uri="{FF2B5EF4-FFF2-40B4-BE49-F238E27FC236}">
                <a16:creationId xmlns:a16="http://schemas.microsoft.com/office/drawing/2014/main" id="{743850B3-89FE-586C-100E-D2868DE5E6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6045" y="2571749"/>
            <a:ext cx="1078289" cy="1073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398C0AD-C90B-779F-43DE-60EAB1785B67}"/>
              </a:ext>
            </a:extLst>
          </p:cNvPr>
          <p:cNvCxnSpPr>
            <a:cxnSpLocks/>
            <a:stCxn id="7" idx="3"/>
            <a:endCxn id="11" idx="1"/>
          </p:cNvCxnSpPr>
          <p:nvPr/>
        </p:nvCxnSpPr>
        <p:spPr>
          <a:xfrm flipV="1">
            <a:off x="1710087" y="3123953"/>
            <a:ext cx="281034" cy="1"/>
          </a:xfrm>
          <a:prstGeom prst="straightConnector1">
            <a:avLst/>
          </a:prstGeom>
          <a:ln w="34925">
            <a:solidFill>
              <a:srgbClr val="34A04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69EB5C1-2D43-8E61-EC41-EEA7E558122F}"/>
              </a:ext>
            </a:extLst>
          </p:cNvPr>
          <p:cNvCxnSpPr>
            <a:cxnSpLocks/>
            <a:stCxn id="24" idx="2"/>
            <a:endCxn id="1026" idx="0"/>
          </p:cNvCxnSpPr>
          <p:nvPr/>
        </p:nvCxnSpPr>
        <p:spPr>
          <a:xfrm>
            <a:off x="5895190" y="2278823"/>
            <a:ext cx="0" cy="292926"/>
          </a:xfrm>
          <a:prstGeom prst="straightConnector1">
            <a:avLst/>
          </a:prstGeom>
          <a:ln w="3492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53263C04-F69D-42A5-97A4-4BD946A77C20}"/>
              </a:ext>
            </a:extLst>
          </p:cNvPr>
          <p:cNvCxnSpPr>
            <a:cxnSpLocks/>
            <a:stCxn id="11" idx="3"/>
            <a:endCxn id="13" idx="1"/>
          </p:cNvCxnSpPr>
          <p:nvPr/>
        </p:nvCxnSpPr>
        <p:spPr>
          <a:xfrm flipV="1">
            <a:off x="3540708" y="1686003"/>
            <a:ext cx="397301" cy="1437950"/>
          </a:xfrm>
          <a:prstGeom prst="bentConnector3">
            <a:avLst>
              <a:gd name="adj1" fmla="val 50000"/>
            </a:avLst>
          </a:prstGeom>
          <a:ln w="34925">
            <a:solidFill>
              <a:srgbClr val="34A04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7C09866-C92C-E20F-4519-354DDCA59E4A}"/>
              </a:ext>
            </a:extLst>
          </p:cNvPr>
          <p:cNvCxnSpPr>
            <a:cxnSpLocks/>
            <a:endCxn id="17" idx="1"/>
          </p:cNvCxnSpPr>
          <p:nvPr/>
        </p:nvCxnSpPr>
        <p:spPr>
          <a:xfrm flipV="1">
            <a:off x="5487597" y="1686002"/>
            <a:ext cx="430035" cy="1"/>
          </a:xfrm>
          <a:prstGeom prst="straightConnector1">
            <a:avLst/>
          </a:prstGeom>
          <a:ln w="34925">
            <a:solidFill>
              <a:srgbClr val="34A04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57246E8-7FC1-5263-BA72-5FB5DD9FB424}"/>
              </a:ext>
            </a:extLst>
          </p:cNvPr>
          <p:cNvCxnSpPr>
            <a:cxnSpLocks/>
            <a:stCxn id="11" idx="3"/>
            <a:endCxn id="1026" idx="1"/>
          </p:cNvCxnSpPr>
          <p:nvPr/>
        </p:nvCxnSpPr>
        <p:spPr>
          <a:xfrm flipV="1">
            <a:off x="3540708" y="3108746"/>
            <a:ext cx="1815337" cy="15207"/>
          </a:xfrm>
          <a:prstGeom prst="straightConnector1">
            <a:avLst/>
          </a:prstGeom>
          <a:ln w="34925">
            <a:solidFill>
              <a:srgbClr val="34A04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665F9C60-1879-B010-8FA3-06B67F2A87C2}"/>
              </a:ext>
            </a:extLst>
          </p:cNvPr>
          <p:cNvSpPr/>
          <p:nvPr/>
        </p:nvSpPr>
        <p:spPr>
          <a:xfrm>
            <a:off x="5238255" y="3530326"/>
            <a:ext cx="1313870" cy="230832"/>
          </a:xfrm>
          <a:prstGeom prst="roundRect">
            <a:avLst/>
          </a:prstGeom>
          <a:solidFill>
            <a:srgbClr val="34A047"/>
          </a:solidFill>
          <a:ln>
            <a:solidFill>
              <a:srgbClr val="34A04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Sentence classifier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1AD8B51-7572-6EC5-4FEF-850EA6E5D322}"/>
              </a:ext>
            </a:extLst>
          </p:cNvPr>
          <p:cNvCxnSpPr>
            <a:cxnSpLocks/>
          </p:cNvCxnSpPr>
          <p:nvPr/>
        </p:nvCxnSpPr>
        <p:spPr>
          <a:xfrm flipV="1">
            <a:off x="6361456" y="3116349"/>
            <a:ext cx="910713" cy="7603"/>
          </a:xfrm>
          <a:prstGeom prst="straightConnector1">
            <a:avLst/>
          </a:prstGeom>
          <a:ln w="34925">
            <a:solidFill>
              <a:srgbClr val="34A04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73043AC-FFE6-7C83-1FF7-1D0CFB56F85C}"/>
              </a:ext>
            </a:extLst>
          </p:cNvPr>
          <p:cNvGrpSpPr/>
          <p:nvPr/>
        </p:nvGrpSpPr>
        <p:grpSpPr>
          <a:xfrm>
            <a:off x="7282712" y="2677492"/>
            <a:ext cx="1549588" cy="907223"/>
            <a:chOff x="311701" y="1351883"/>
            <a:chExt cx="1549588" cy="907223"/>
          </a:xfrm>
        </p:grpSpPr>
        <p:sp>
          <p:nvSpPr>
            <p:cNvPr id="48" name="Rounded Rectangle 47">
              <a:extLst>
                <a:ext uri="{FF2B5EF4-FFF2-40B4-BE49-F238E27FC236}">
                  <a16:creationId xmlns:a16="http://schemas.microsoft.com/office/drawing/2014/main" id="{5EF479CD-5774-9C99-CE84-6A7ECCD44099}"/>
                </a:ext>
              </a:extLst>
            </p:cNvPr>
            <p:cNvSpPr/>
            <p:nvPr/>
          </p:nvSpPr>
          <p:spPr>
            <a:xfrm>
              <a:off x="311701" y="1351883"/>
              <a:ext cx="1549588" cy="907223"/>
            </a:xfrm>
            <a:prstGeom prst="roundRect">
              <a:avLst/>
            </a:prstGeom>
            <a:noFill/>
            <a:ln>
              <a:solidFill>
                <a:srgbClr val="34A0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7D8216A3-0171-EBA7-CDFD-EF36582B1C2E}"/>
                </a:ext>
              </a:extLst>
            </p:cNvPr>
            <p:cNvSpPr/>
            <p:nvPr/>
          </p:nvSpPr>
          <p:spPr>
            <a:xfrm>
              <a:off x="408790" y="1427189"/>
              <a:ext cx="236669" cy="231028"/>
            </a:xfrm>
            <a:prstGeom prst="ellipse">
              <a:avLst/>
            </a:prstGeom>
            <a:solidFill>
              <a:srgbClr val="34A04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5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5C0C850-5E2C-4E76-1615-098841984366}"/>
                </a:ext>
              </a:extLst>
            </p:cNvPr>
            <p:cNvSpPr txBox="1"/>
            <p:nvPr/>
          </p:nvSpPr>
          <p:spPr>
            <a:xfrm>
              <a:off x="311702" y="1637721"/>
              <a:ext cx="1549587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Each sentences chunk is categorized into 1 of the 6 categories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64FCAFF8-F6CE-FC3F-A754-7AB0ADCE9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>
            <a:extLst>
              <a:ext uri="{FF2B5EF4-FFF2-40B4-BE49-F238E27FC236}">
                <a16:creationId xmlns:a16="http://schemas.microsoft.com/office/drawing/2014/main" id="{EEC9B416-4BA7-02A8-341A-A516A31839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dirty="0" err="1">
                <a:solidFill>
                  <a:srgbClr val="34A148"/>
                </a:solidFill>
                <a:latin typeface="+mn-lt"/>
              </a:rPr>
              <a:t>JobTech</a:t>
            </a:r>
            <a:r>
              <a:rPr lang="en-SG" dirty="0">
                <a:solidFill>
                  <a:srgbClr val="34A148"/>
                </a:solidFill>
                <a:latin typeface="+mn-lt"/>
              </a:rPr>
              <a:t> – SSIC </a:t>
            </a:r>
            <a:r>
              <a:rPr lang="en-SG" dirty="0" err="1">
                <a:solidFill>
                  <a:srgbClr val="34A148"/>
                </a:solidFill>
                <a:latin typeface="+mn-lt"/>
              </a:rPr>
              <a:t>classifer</a:t>
            </a:r>
            <a:r>
              <a:rPr lang="en-SG" dirty="0">
                <a:solidFill>
                  <a:srgbClr val="34A148"/>
                </a:solidFill>
                <a:latin typeface="+mn-lt"/>
              </a:rPr>
              <a:t>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629FB15-E918-1537-67BE-F4E0154B7F6D}"/>
              </a:ext>
            </a:extLst>
          </p:cNvPr>
          <p:cNvGrpSpPr/>
          <p:nvPr/>
        </p:nvGrpSpPr>
        <p:grpSpPr>
          <a:xfrm>
            <a:off x="2041396" y="1416045"/>
            <a:ext cx="2028009" cy="907223"/>
            <a:chOff x="5621" y="1351883"/>
            <a:chExt cx="2028009" cy="907223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90D5616D-C116-86CB-A202-E23055333556}"/>
                </a:ext>
              </a:extLst>
            </p:cNvPr>
            <p:cNvSpPr/>
            <p:nvPr/>
          </p:nvSpPr>
          <p:spPr>
            <a:xfrm>
              <a:off x="74514" y="1351883"/>
              <a:ext cx="1894567" cy="907223"/>
            </a:xfrm>
            <a:prstGeom prst="roundRect">
              <a:avLst/>
            </a:prstGeom>
            <a:noFill/>
            <a:ln>
              <a:solidFill>
                <a:srgbClr val="34A0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C40D4DD-E71D-243C-E52A-E3088FDE2BB4}"/>
                </a:ext>
              </a:extLst>
            </p:cNvPr>
            <p:cNvSpPr/>
            <p:nvPr/>
          </p:nvSpPr>
          <p:spPr>
            <a:xfrm>
              <a:off x="155474" y="1427189"/>
              <a:ext cx="236669" cy="231028"/>
            </a:xfrm>
            <a:prstGeom prst="ellipse">
              <a:avLst/>
            </a:prstGeom>
            <a:solidFill>
              <a:srgbClr val="34A04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1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E9E421C-3411-A2EE-466A-268AF105301B}"/>
                </a:ext>
              </a:extLst>
            </p:cNvPr>
            <p:cNvSpPr txBox="1"/>
            <p:nvPr/>
          </p:nvSpPr>
          <p:spPr>
            <a:xfrm>
              <a:off x="5621" y="1638183"/>
              <a:ext cx="2028009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With extracted company descriptions, classify each job into SSIC categories using multiple LLM</a:t>
              </a:r>
            </a:p>
          </p:txBody>
        </p:sp>
      </p:grpSp>
      <p:pic>
        <p:nvPicPr>
          <p:cNvPr id="1026" name="Picture 2" descr="Large Language Models (LLMs)">
            <a:extLst>
              <a:ext uri="{FF2B5EF4-FFF2-40B4-BE49-F238E27FC236}">
                <a16:creationId xmlns:a16="http://schemas.microsoft.com/office/drawing/2014/main" id="{F0ADAA53-0CF9-0F51-4206-540F7F2D71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0511" y="3192446"/>
            <a:ext cx="1078289" cy="1073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AEA021C-D635-635C-8306-62C4ABC80615}"/>
              </a:ext>
            </a:extLst>
          </p:cNvPr>
          <p:cNvCxnSpPr>
            <a:cxnSpLocks/>
            <a:stCxn id="37" idx="3"/>
            <a:endCxn id="48" idx="1"/>
          </p:cNvCxnSpPr>
          <p:nvPr/>
        </p:nvCxnSpPr>
        <p:spPr>
          <a:xfrm>
            <a:off x="6652377" y="1869656"/>
            <a:ext cx="381333" cy="0"/>
          </a:xfrm>
          <a:prstGeom prst="straightConnector1">
            <a:avLst/>
          </a:prstGeom>
          <a:ln w="34925">
            <a:solidFill>
              <a:srgbClr val="34A04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9E724E2-7F5D-0979-827E-79A29AF6E4BD}"/>
              </a:ext>
            </a:extLst>
          </p:cNvPr>
          <p:cNvGrpSpPr/>
          <p:nvPr/>
        </p:nvGrpSpPr>
        <p:grpSpPr>
          <a:xfrm>
            <a:off x="7033710" y="1416044"/>
            <a:ext cx="1549588" cy="932169"/>
            <a:chOff x="311701" y="1351883"/>
            <a:chExt cx="1549588" cy="932169"/>
          </a:xfrm>
        </p:grpSpPr>
        <p:sp>
          <p:nvSpPr>
            <p:cNvPr id="48" name="Rounded Rectangle 47">
              <a:extLst>
                <a:ext uri="{FF2B5EF4-FFF2-40B4-BE49-F238E27FC236}">
                  <a16:creationId xmlns:a16="http://schemas.microsoft.com/office/drawing/2014/main" id="{17B9B7EE-83C5-4C23-F848-287F63119044}"/>
                </a:ext>
              </a:extLst>
            </p:cNvPr>
            <p:cNvSpPr/>
            <p:nvPr/>
          </p:nvSpPr>
          <p:spPr>
            <a:xfrm>
              <a:off x="311701" y="1351883"/>
              <a:ext cx="1549588" cy="907223"/>
            </a:xfrm>
            <a:prstGeom prst="roundRect">
              <a:avLst/>
            </a:prstGeom>
            <a:noFill/>
            <a:ln>
              <a:solidFill>
                <a:srgbClr val="34A0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0BEE2130-B6B4-081C-D6E1-4BED5C4E37B6}"/>
                </a:ext>
              </a:extLst>
            </p:cNvPr>
            <p:cNvSpPr/>
            <p:nvPr/>
          </p:nvSpPr>
          <p:spPr>
            <a:xfrm>
              <a:off x="408790" y="1427189"/>
              <a:ext cx="236669" cy="231028"/>
            </a:xfrm>
            <a:prstGeom prst="ellipse">
              <a:avLst/>
            </a:prstGeom>
            <a:solidFill>
              <a:srgbClr val="34A04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3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2171058-1CFA-EEAA-9026-95AB28734D7E}"/>
                </a:ext>
              </a:extLst>
            </p:cNvPr>
            <p:cNvSpPr txBox="1"/>
            <p:nvPr/>
          </p:nvSpPr>
          <p:spPr>
            <a:xfrm>
              <a:off x="311702" y="1637721"/>
              <a:ext cx="154958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Fine tune BERT based model with high scoring classification / Human selected classification</a:t>
              </a:r>
            </a:p>
          </p:txBody>
        </p:sp>
      </p:grpSp>
      <p:pic>
        <p:nvPicPr>
          <p:cNvPr id="3074" name="Picture 2" descr="Spreadsheet Data Icon For Finance Or Business Illustration Vector, Icon,  Vector, Illustration PNG and Vector with Transparent Background for Free  Download">
            <a:extLst>
              <a:ext uri="{FF2B5EF4-FFF2-40B4-BE49-F238E27FC236}">
                <a16:creationId xmlns:a16="http://schemas.microsoft.com/office/drawing/2014/main" id="{8BB0F45D-729E-7AEE-D4E2-62718F8E1F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991" y="2429291"/>
            <a:ext cx="778890" cy="778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EEB557D-E0C7-5929-D18F-CB79BFF8AEED}"/>
              </a:ext>
            </a:extLst>
          </p:cNvPr>
          <p:cNvSpPr/>
          <p:nvPr/>
        </p:nvSpPr>
        <p:spPr>
          <a:xfrm>
            <a:off x="86501" y="3192446"/>
            <a:ext cx="1313870" cy="539036"/>
          </a:xfrm>
          <a:prstGeom prst="roundRect">
            <a:avLst/>
          </a:prstGeom>
          <a:solidFill>
            <a:srgbClr val="34A047"/>
          </a:solidFill>
          <a:ln>
            <a:solidFill>
              <a:srgbClr val="34A04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Jobs data with categorized descriptions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1C0188A-3A37-E34A-2F19-3439FD2F09D5}"/>
              </a:ext>
            </a:extLst>
          </p:cNvPr>
          <p:cNvGrpSpPr/>
          <p:nvPr/>
        </p:nvGrpSpPr>
        <p:grpSpPr>
          <a:xfrm>
            <a:off x="4278396" y="1416044"/>
            <a:ext cx="2373981" cy="907223"/>
            <a:chOff x="311700" y="1351883"/>
            <a:chExt cx="2373981" cy="907223"/>
          </a:xfrm>
        </p:grpSpPr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663CF45E-A806-8210-DA54-FE3D1288B560}"/>
                </a:ext>
              </a:extLst>
            </p:cNvPr>
            <p:cNvSpPr/>
            <p:nvPr/>
          </p:nvSpPr>
          <p:spPr>
            <a:xfrm>
              <a:off x="311700" y="1351883"/>
              <a:ext cx="2373981" cy="907223"/>
            </a:xfrm>
            <a:prstGeom prst="roundRect">
              <a:avLst/>
            </a:prstGeom>
            <a:noFill/>
            <a:ln>
              <a:solidFill>
                <a:srgbClr val="34A0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2C800BA3-9A7E-EC9F-43F8-1A6485CFCDB5}"/>
                </a:ext>
              </a:extLst>
            </p:cNvPr>
            <p:cNvSpPr/>
            <p:nvPr/>
          </p:nvSpPr>
          <p:spPr>
            <a:xfrm>
              <a:off x="408790" y="1427189"/>
              <a:ext cx="236669" cy="231028"/>
            </a:xfrm>
            <a:prstGeom prst="ellipse">
              <a:avLst/>
            </a:prstGeom>
            <a:solidFill>
              <a:srgbClr val="34A04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2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F87BCCF-252B-0DD7-ECBD-72B86C65C7D4}"/>
                </a:ext>
              </a:extLst>
            </p:cNvPr>
            <p:cNvSpPr txBox="1"/>
            <p:nvPr/>
          </p:nvSpPr>
          <p:spPr>
            <a:xfrm>
              <a:off x="492907" y="1658217"/>
              <a:ext cx="2121364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LLM as judge to score relevance and specificity of each classification, with human in the loop</a:t>
              </a:r>
            </a:p>
          </p:txBody>
        </p:sp>
      </p:grp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709CAAC-95EF-470C-C18E-4F2AE06950E2}"/>
              </a:ext>
            </a:extLst>
          </p:cNvPr>
          <p:cNvCxnSpPr>
            <a:cxnSpLocks/>
            <a:stCxn id="5" idx="3"/>
            <a:endCxn id="37" idx="1"/>
          </p:cNvCxnSpPr>
          <p:nvPr/>
        </p:nvCxnSpPr>
        <p:spPr>
          <a:xfrm flipV="1">
            <a:off x="4004856" y="1869656"/>
            <a:ext cx="273540" cy="1"/>
          </a:xfrm>
          <a:prstGeom prst="straightConnector1">
            <a:avLst/>
          </a:prstGeom>
          <a:ln w="34925">
            <a:solidFill>
              <a:srgbClr val="34A04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DA479171-5436-3F4A-CCF5-FE294F18E38F}"/>
              </a:ext>
            </a:extLst>
          </p:cNvPr>
          <p:cNvSpPr/>
          <p:nvPr/>
        </p:nvSpPr>
        <p:spPr>
          <a:xfrm>
            <a:off x="4797192" y="4178586"/>
            <a:ext cx="1313870" cy="230832"/>
          </a:xfrm>
          <a:prstGeom prst="roundRect">
            <a:avLst/>
          </a:prstGeom>
          <a:solidFill>
            <a:srgbClr val="34A047"/>
          </a:solidFill>
          <a:ln>
            <a:solidFill>
              <a:srgbClr val="34A04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SSIC Classifier</a:t>
            </a:r>
          </a:p>
        </p:txBody>
      </p: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CFAE4107-371B-138C-9C81-1C94ED06F793}"/>
              </a:ext>
            </a:extLst>
          </p:cNvPr>
          <p:cNvCxnSpPr>
            <a:cxnSpLocks/>
          </p:cNvCxnSpPr>
          <p:nvPr/>
        </p:nvCxnSpPr>
        <p:spPr>
          <a:xfrm flipV="1">
            <a:off x="762252" y="1905990"/>
            <a:ext cx="1348037" cy="1097724"/>
          </a:xfrm>
          <a:prstGeom prst="bentConnector3">
            <a:avLst>
              <a:gd name="adj1" fmla="val 61172"/>
            </a:avLst>
          </a:prstGeom>
          <a:ln w="34925">
            <a:solidFill>
              <a:srgbClr val="34A04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D724E981-A3CD-A7C8-B2B4-9675F5F3F230}"/>
              </a:ext>
            </a:extLst>
          </p:cNvPr>
          <p:cNvSpPr/>
          <p:nvPr/>
        </p:nvSpPr>
        <p:spPr>
          <a:xfrm>
            <a:off x="1893346" y="1272145"/>
            <a:ext cx="6896663" cy="1159103"/>
          </a:xfrm>
          <a:prstGeom prst="roundRect">
            <a:avLst/>
          </a:prstGeom>
          <a:noFill/>
          <a:ln w="50800">
            <a:solidFill>
              <a:schemeClr val="accent4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3" name="Elbow Connector 72">
            <a:extLst>
              <a:ext uri="{FF2B5EF4-FFF2-40B4-BE49-F238E27FC236}">
                <a16:creationId xmlns:a16="http://schemas.microsoft.com/office/drawing/2014/main" id="{C4753A40-E85E-3336-DA0A-A3E28929E7DE}"/>
              </a:ext>
            </a:extLst>
          </p:cNvPr>
          <p:cNvCxnSpPr>
            <a:cxnSpLocks/>
            <a:endCxn id="1026" idx="1"/>
          </p:cNvCxnSpPr>
          <p:nvPr/>
        </p:nvCxnSpPr>
        <p:spPr>
          <a:xfrm>
            <a:off x="839097" y="3003714"/>
            <a:ext cx="3981414" cy="725729"/>
          </a:xfrm>
          <a:prstGeom prst="bentConnector3">
            <a:avLst>
              <a:gd name="adj1" fmla="val 18927"/>
            </a:avLst>
          </a:prstGeom>
          <a:ln w="34925">
            <a:solidFill>
              <a:srgbClr val="34A04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0" name="Group 79">
            <a:extLst>
              <a:ext uri="{FF2B5EF4-FFF2-40B4-BE49-F238E27FC236}">
                <a16:creationId xmlns:a16="http://schemas.microsoft.com/office/drawing/2014/main" id="{4FB41FCB-AD4D-D541-5AC3-A973DD0DA49C}"/>
              </a:ext>
            </a:extLst>
          </p:cNvPr>
          <p:cNvGrpSpPr/>
          <p:nvPr/>
        </p:nvGrpSpPr>
        <p:grpSpPr>
          <a:xfrm>
            <a:off x="7240421" y="3249847"/>
            <a:ext cx="1549588" cy="907223"/>
            <a:chOff x="311701" y="1351883"/>
            <a:chExt cx="1549588" cy="907223"/>
          </a:xfrm>
        </p:grpSpPr>
        <p:sp>
          <p:nvSpPr>
            <p:cNvPr id="81" name="Rounded Rectangle 80">
              <a:extLst>
                <a:ext uri="{FF2B5EF4-FFF2-40B4-BE49-F238E27FC236}">
                  <a16:creationId xmlns:a16="http://schemas.microsoft.com/office/drawing/2014/main" id="{42809AFA-B50A-8C4A-7A81-99088549211F}"/>
                </a:ext>
              </a:extLst>
            </p:cNvPr>
            <p:cNvSpPr/>
            <p:nvPr/>
          </p:nvSpPr>
          <p:spPr>
            <a:xfrm>
              <a:off x="311701" y="1351883"/>
              <a:ext cx="1549588" cy="907223"/>
            </a:xfrm>
            <a:prstGeom prst="roundRect">
              <a:avLst/>
            </a:prstGeom>
            <a:noFill/>
            <a:ln>
              <a:solidFill>
                <a:srgbClr val="34A0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91803A9A-8646-66C4-6F29-BD54A606DC9E}"/>
                </a:ext>
              </a:extLst>
            </p:cNvPr>
            <p:cNvSpPr/>
            <p:nvPr/>
          </p:nvSpPr>
          <p:spPr>
            <a:xfrm>
              <a:off x="408790" y="1427189"/>
              <a:ext cx="236669" cy="231028"/>
            </a:xfrm>
            <a:prstGeom prst="ellipse">
              <a:avLst/>
            </a:prstGeom>
            <a:solidFill>
              <a:srgbClr val="34A04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5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63959612-5975-FA1E-1CF1-194A059E9A72}"/>
                </a:ext>
              </a:extLst>
            </p:cNvPr>
            <p:cNvSpPr txBox="1"/>
            <p:nvPr/>
          </p:nvSpPr>
          <p:spPr>
            <a:xfrm>
              <a:off x="311702" y="1637721"/>
              <a:ext cx="15495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Each jobs is classified into a SSIC category</a:t>
              </a:r>
            </a:p>
          </p:txBody>
        </p:sp>
      </p:grp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C096D53B-1828-D7FF-950A-D777656B2032}"/>
              </a:ext>
            </a:extLst>
          </p:cNvPr>
          <p:cNvCxnSpPr>
            <a:cxnSpLocks/>
          </p:cNvCxnSpPr>
          <p:nvPr/>
        </p:nvCxnSpPr>
        <p:spPr>
          <a:xfrm>
            <a:off x="5454127" y="2429291"/>
            <a:ext cx="0" cy="854196"/>
          </a:xfrm>
          <a:prstGeom prst="straightConnector1">
            <a:avLst/>
          </a:prstGeom>
          <a:ln w="3492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867C3223-9871-AB2C-DD50-582E01BDBBD2}"/>
              </a:ext>
            </a:extLst>
          </p:cNvPr>
          <p:cNvCxnSpPr>
            <a:cxnSpLocks/>
            <a:stCxn id="1026" idx="3"/>
            <a:endCxn id="83" idx="1"/>
          </p:cNvCxnSpPr>
          <p:nvPr/>
        </p:nvCxnSpPr>
        <p:spPr>
          <a:xfrm flipV="1">
            <a:off x="5898800" y="3720351"/>
            <a:ext cx="1341622" cy="9092"/>
          </a:xfrm>
          <a:prstGeom prst="straightConnector1">
            <a:avLst/>
          </a:prstGeom>
          <a:ln w="34925">
            <a:solidFill>
              <a:srgbClr val="34A04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3618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SG" dirty="0">
                <a:solidFill>
                  <a:srgbClr val="34A148"/>
                </a:solidFill>
              </a:rPr>
              <a:t>Job deduplication workflow</a:t>
            </a:r>
            <a:endParaRPr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25DE7C7-D0F4-6C3C-E2AE-D7F063EE40E7}"/>
              </a:ext>
            </a:extLst>
          </p:cNvPr>
          <p:cNvGrpSpPr/>
          <p:nvPr/>
        </p:nvGrpSpPr>
        <p:grpSpPr>
          <a:xfrm>
            <a:off x="493987" y="2332177"/>
            <a:ext cx="1549588" cy="907223"/>
            <a:chOff x="311701" y="1351883"/>
            <a:chExt cx="1549588" cy="907223"/>
          </a:xfrm>
        </p:grpSpPr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3626C5A1-2FF4-9813-C28A-53B2B84D3AE3}"/>
                </a:ext>
              </a:extLst>
            </p:cNvPr>
            <p:cNvSpPr/>
            <p:nvPr/>
          </p:nvSpPr>
          <p:spPr>
            <a:xfrm>
              <a:off x="311701" y="1351883"/>
              <a:ext cx="1549588" cy="907223"/>
            </a:xfrm>
            <a:prstGeom prst="roundRect">
              <a:avLst/>
            </a:prstGeom>
            <a:noFill/>
            <a:ln>
              <a:solidFill>
                <a:srgbClr val="34A0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0E5EDF81-0D50-DBED-56BA-1959593965E4}"/>
                </a:ext>
              </a:extLst>
            </p:cNvPr>
            <p:cNvSpPr/>
            <p:nvPr/>
          </p:nvSpPr>
          <p:spPr>
            <a:xfrm>
              <a:off x="408790" y="1427189"/>
              <a:ext cx="236669" cy="231028"/>
            </a:xfrm>
            <a:prstGeom prst="ellipse">
              <a:avLst/>
            </a:prstGeom>
            <a:solidFill>
              <a:srgbClr val="34A04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1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A8B9DF4-3B32-C36C-D4A5-F79468C5E942}"/>
                </a:ext>
              </a:extLst>
            </p:cNvPr>
            <p:cNvSpPr txBox="1"/>
            <p:nvPr/>
          </p:nvSpPr>
          <p:spPr>
            <a:xfrm>
              <a:off x="311702" y="1564110"/>
              <a:ext cx="1549587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Clean job descriptions and apply mini hash</a:t>
              </a:r>
            </a:p>
          </p:txBody>
        </p: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FE26790-0360-B48F-124F-13782DA3CF03}"/>
              </a:ext>
            </a:extLst>
          </p:cNvPr>
          <p:cNvCxnSpPr>
            <a:cxnSpLocks/>
            <a:stCxn id="2" idx="3"/>
            <a:endCxn id="51" idx="1"/>
          </p:cNvCxnSpPr>
          <p:nvPr/>
        </p:nvCxnSpPr>
        <p:spPr>
          <a:xfrm flipV="1">
            <a:off x="2043575" y="2782493"/>
            <a:ext cx="262210" cy="3296"/>
          </a:xfrm>
          <a:prstGeom prst="straightConnector1">
            <a:avLst/>
          </a:prstGeom>
          <a:ln w="34925">
            <a:solidFill>
              <a:srgbClr val="34A04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D8F87AAA-2D8F-9CBF-1C36-0491B04459C5}"/>
              </a:ext>
            </a:extLst>
          </p:cNvPr>
          <p:cNvCxnSpPr>
            <a:cxnSpLocks/>
            <a:stCxn id="58" idx="3"/>
            <a:endCxn id="74" idx="1"/>
          </p:cNvCxnSpPr>
          <p:nvPr/>
        </p:nvCxnSpPr>
        <p:spPr>
          <a:xfrm flipV="1">
            <a:off x="5712684" y="2171615"/>
            <a:ext cx="1230944" cy="644825"/>
          </a:xfrm>
          <a:prstGeom prst="bentConnector3">
            <a:avLst>
              <a:gd name="adj1" fmla="val 50000"/>
            </a:avLst>
          </a:prstGeom>
          <a:ln w="34925">
            <a:solidFill>
              <a:srgbClr val="34A04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Group 49">
            <a:extLst>
              <a:ext uri="{FF2B5EF4-FFF2-40B4-BE49-F238E27FC236}">
                <a16:creationId xmlns:a16="http://schemas.microsoft.com/office/drawing/2014/main" id="{55313B06-A00E-78A7-7FA1-9660837BCEDE}"/>
              </a:ext>
            </a:extLst>
          </p:cNvPr>
          <p:cNvGrpSpPr/>
          <p:nvPr/>
        </p:nvGrpSpPr>
        <p:grpSpPr>
          <a:xfrm>
            <a:off x="2305785" y="2328881"/>
            <a:ext cx="1595101" cy="907223"/>
            <a:chOff x="311701" y="1351883"/>
            <a:chExt cx="1595101" cy="907223"/>
          </a:xfrm>
        </p:grpSpPr>
        <p:sp>
          <p:nvSpPr>
            <p:cNvPr id="51" name="Rounded Rectangle 50">
              <a:extLst>
                <a:ext uri="{FF2B5EF4-FFF2-40B4-BE49-F238E27FC236}">
                  <a16:creationId xmlns:a16="http://schemas.microsoft.com/office/drawing/2014/main" id="{C3E5A633-4BFA-8F00-FC79-F92DB40F3947}"/>
                </a:ext>
              </a:extLst>
            </p:cNvPr>
            <p:cNvSpPr/>
            <p:nvPr/>
          </p:nvSpPr>
          <p:spPr>
            <a:xfrm>
              <a:off x="311701" y="1351883"/>
              <a:ext cx="1549588" cy="907223"/>
            </a:xfrm>
            <a:prstGeom prst="roundRect">
              <a:avLst/>
            </a:prstGeom>
            <a:noFill/>
            <a:ln>
              <a:solidFill>
                <a:srgbClr val="34A0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52B32AD7-C582-0C4F-BE23-7DB1B3EBF26F}"/>
                </a:ext>
              </a:extLst>
            </p:cNvPr>
            <p:cNvSpPr/>
            <p:nvPr/>
          </p:nvSpPr>
          <p:spPr>
            <a:xfrm>
              <a:off x="408790" y="1427189"/>
              <a:ext cx="236669" cy="231028"/>
            </a:xfrm>
            <a:prstGeom prst="ellipse">
              <a:avLst/>
            </a:prstGeom>
            <a:solidFill>
              <a:srgbClr val="34A04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2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1D54773-2593-FCA8-7A5A-FAA7CEC0114E}"/>
                </a:ext>
              </a:extLst>
            </p:cNvPr>
            <p:cNvSpPr txBox="1"/>
            <p:nvPr/>
          </p:nvSpPr>
          <p:spPr>
            <a:xfrm>
              <a:off x="357215" y="1639388"/>
              <a:ext cx="154958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Compare mini hash with jobs inserted past 60 days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A1174437-29A3-8738-27A0-FB2F63A10A17}"/>
              </a:ext>
            </a:extLst>
          </p:cNvPr>
          <p:cNvGrpSpPr/>
          <p:nvPr/>
        </p:nvGrpSpPr>
        <p:grpSpPr>
          <a:xfrm>
            <a:off x="4117583" y="2328880"/>
            <a:ext cx="1595101" cy="907223"/>
            <a:chOff x="311701" y="1351883"/>
            <a:chExt cx="1595101" cy="907223"/>
          </a:xfrm>
        </p:grpSpPr>
        <p:sp>
          <p:nvSpPr>
            <p:cNvPr id="56" name="Rounded Rectangle 55">
              <a:extLst>
                <a:ext uri="{FF2B5EF4-FFF2-40B4-BE49-F238E27FC236}">
                  <a16:creationId xmlns:a16="http://schemas.microsoft.com/office/drawing/2014/main" id="{8880D6C0-D60D-9A93-AC83-31B5277052D8}"/>
                </a:ext>
              </a:extLst>
            </p:cNvPr>
            <p:cNvSpPr/>
            <p:nvPr/>
          </p:nvSpPr>
          <p:spPr>
            <a:xfrm>
              <a:off x="311701" y="1351883"/>
              <a:ext cx="1549588" cy="907223"/>
            </a:xfrm>
            <a:prstGeom prst="roundRect">
              <a:avLst/>
            </a:prstGeom>
            <a:noFill/>
            <a:ln>
              <a:solidFill>
                <a:srgbClr val="34A0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250F1722-6ED1-D7AD-1024-B378A3C443F3}"/>
                </a:ext>
              </a:extLst>
            </p:cNvPr>
            <p:cNvSpPr/>
            <p:nvPr/>
          </p:nvSpPr>
          <p:spPr>
            <a:xfrm>
              <a:off x="408790" y="1427189"/>
              <a:ext cx="236669" cy="231028"/>
            </a:xfrm>
            <a:prstGeom prst="ellipse">
              <a:avLst/>
            </a:prstGeom>
            <a:solidFill>
              <a:srgbClr val="34A04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3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BF73FF0-326B-CCEB-EC85-05BA7B6794C7}"/>
                </a:ext>
              </a:extLst>
            </p:cNvPr>
            <p:cNvSpPr txBox="1"/>
            <p:nvPr/>
          </p:nvSpPr>
          <p:spPr>
            <a:xfrm>
              <a:off x="357215" y="1639388"/>
              <a:ext cx="154958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Check if similarities </a:t>
              </a:r>
            </a:p>
            <a:p>
              <a:pPr algn="ctr"/>
              <a:r>
                <a:rPr lang="en-US" sz="1000" dirty="0"/>
                <a:t>&gt; 90%?</a:t>
              </a:r>
            </a:p>
          </p:txBody>
        </p:sp>
      </p:grp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1D8CF71D-CF6C-F444-062C-529819BB42C5}"/>
              </a:ext>
            </a:extLst>
          </p:cNvPr>
          <p:cNvCxnSpPr>
            <a:cxnSpLocks/>
            <a:endCxn id="56" idx="1"/>
          </p:cNvCxnSpPr>
          <p:nvPr/>
        </p:nvCxnSpPr>
        <p:spPr>
          <a:xfrm>
            <a:off x="3855373" y="2782492"/>
            <a:ext cx="262210" cy="0"/>
          </a:xfrm>
          <a:prstGeom prst="straightConnector1">
            <a:avLst/>
          </a:prstGeom>
          <a:ln w="34925">
            <a:solidFill>
              <a:srgbClr val="34A04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3" name="Group 72">
            <a:extLst>
              <a:ext uri="{FF2B5EF4-FFF2-40B4-BE49-F238E27FC236}">
                <a16:creationId xmlns:a16="http://schemas.microsoft.com/office/drawing/2014/main" id="{C2D4BF66-326B-E777-4D8A-8C641F5AB3EA}"/>
              </a:ext>
            </a:extLst>
          </p:cNvPr>
          <p:cNvGrpSpPr/>
          <p:nvPr/>
        </p:nvGrpSpPr>
        <p:grpSpPr>
          <a:xfrm>
            <a:off x="6943628" y="1718003"/>
            <a:ext cx="1595101" cy="907223"/>
            <a:chOff x="311701" y="1351883"/>
            <a:chExt cx="1595101" cy="907223"/>
          </a:xfrm>
        </p:grpSpPr>
        <p:sp>
          <p:nvSpPr>
            <p:cNvPr id="74" name="Rounded Rectangle 73">
              <a:extLst>
                <a:ext uri="{FF2B5EF4-FFF2-40B4-BE49-F238E27FC236}">
                  <a16:creationId xmlns:a16="http://schemas.microsoft.com/office/drawing/2014/main" id="{04815AAE-99CA-B934-A174-FE41F24DD66E}"/>
                </a:ext>
              </a:extLst>
            </p:cNvPr>
            <p:cNvSpPr/>
            <p:nvPr/>
          </p:nvSpPr>
          <p:spPr>
            <a:xfrm>
              <a:off x="311701" y="1351883"/>
              <a:ext cx="1549588" cy="907223"/>
            </a:xfrm>
            <a:prstGeom prst="roundRect">
              <a:avLst/>
            </a:prstGeom>
            <a:noFill/>
            <a:ln>
              <a:solidFill>
                <a:srgbClr val="34A0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08192AAA-445D-B26A-FCC0-BDB53507AD97}"/>
                </a:ext>
              </a:extLst>
            </p:cNvPr>
            <p:cNvSpPr/>
            <p:nvPr/>
          </p:nvSpPr>
          <p:spPr>
            <a:xfrm>
              <a:off x="408790" y="1427189"/>
              <a:ext cx="236669" cy="231028"/>
            </a:xfrm>
            <a:prstGeom prst="ellipse">
              <a:avLst/>
            </a:prstGeom>
            <a:solidFill>
              <a:srgbClr val="34A04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4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E09813E2-3CD5-F3E9-B20E-EBB6D6D01C44}"/>
                </a:ext>
              </a:extLst>
            </p:cNvPr>
            <p:cNvSpPr txBox="1"/>
            <p:nvPr/>
          </p:nvSpPr>
          <p:spPr>
            <a:xfrm>
              <a:off x="357215" y="1639388"/>
              <a:ext cx="154958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Set deduped id to the matching job</a:t>
              </a:r>
            </a:p>
          </p:txBody>
        </p:sp>
      </p:grp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3009F241-8C02-2180-01BB-3DCE908F0C84}"/>
              </a:ext>
            </a:extLst>
          </p:cNvPr>
          <p:cNvSpPr/>
          <p:nvPr/>
        </p:nvSpPr>
        <p:spPr>
          <a:xfrm>
            <a:off x="6068179" y="2351765"/>
            <a:ext cx="519953" cy="283449"/>
          </a:xfrm>
          <a:prstGeom prst="roundRect">
            <a:avLst/>
          </a:prstGeom>
          <a:ln>
            <a:solidFill>
              <a:srgbClr val="34A04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Yes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606295E9-5C01-98B2-ECFF-6DB940D94F32}"/>
              </a:ext>
            </a:extLst>
          </p:cNvPr>
          <p:cNvGrpSpPr/>
          <p:nvPr/>
        </p:nvGrpSpPr>
        <p:grpSpPr>
          <a:xfrm>
            <a:off x="6966384" y="3153852"/>
            <a:ext cx="1595101" cy="907223"/>
            <a:chOff x="311701" y="1351883"/>
            <a:chExt cx="1595101" cy="907223"/>
          </a:xfrm>
        </p:grpSpPr>
        <p:sp>
          <p:nvSpPr>
            <p:cNvPr id="79" name="Rounded Rectangle 78">
              <a:extLst>
                <a:ext uri="{FF2B5EF4-FFF2-40B4-BE49-F238E27FC236}">
                  <a16:creationId xmlns:a16="http://schemas.microsoft.com/office/drawing/2014/main" id="{FA05D5B5-B36B-2815-6E96-55ED1CB5E7B5}"/>
                </a:ext>
              </a:extLst>
            </p:cNvPr>
            <p:cNvSpPr/>
            <p:nvPr/>
          </p:nvSpPr>
          <p:spPr>
            <a:xfrm>
              <a:off x="311701" y="1351883"/>
              <a:ext cx="1549588" cy="907223"/>
            </a:xfrm>
            <a:prstGeom prst="roundRect">
              <a:avLst/>
            </a:prstGeom>
            <a:noFill/>
            <a:ln>
              <a:solidFill>
                <a:srgbClr val="34A0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3995EFA0-3665-DC04-E94C-6EDE7F1FD881}"/>
                </a:ext>
              </a:extLst>
            </p:cNvPr>
            <p:cNvSpPr/>
            <p:nvPr/>
          </p:nvSpPr>
          <p:spPr>
            <a:xfrm>
              <a:off x="408790" y="1427189"/>
              <a:ext cx="236669" cy="231028"/>
            </a:xfrm>
            <a:prstGeom prst="ellipse">
              <a:avLst/>
            </a:prstGeom>
            <a:solidFill>
              <a:srgbClr val="34A04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4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1BE1E201-11FD-B557-9016-CE45A29D3145}"/>
                </a:ext>
              </a:extLst>
            </p:cNvPr>
            <p:cNvSpPr txBox="1"/>
            <p:nvPr/>
          </p:nvSpPr>
          <p:spPr>
            <a:xfrm>
              <a:off x="357215" y="1639388"/>
              <a:ext cx="154958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Insert the mini hash and job id into mini hash database</a:t>
              </a:r>
            </a:p>
          </p:txBody>
        </p:sp>
      </p:grpSp>
      <p:cxnSp>
        <p:nvCxnSpPr>
          <p:cNvPr id="82" name="Elbow Connector 81">
            <a:extLst>
              <a:ext uri="{FF2B5EF4-FFF2-40B4-BE49-F238E27FC236}">
                <a16:creationId xmlns:a16="http://schemas.microsoft.com/office/drawing/2014/main" id="{4B0A1CA6-B93D-AE86-7C10-01A8FF2639AF}"/>
              </a:ext>
            </a:extLst>
          </p:cNvPr>
          <p:cNvCxnSpPr>
            <a:cxnSpLocks/>
            <a:endCxn id="79" idx="1"/>
          </p:cNvCxnSpPr>
          <p:nvPr/>
        </p:nvCxnSpPr>
        <p:spPr>
          <a:xfrm>
            <a:off x="5648236" y="2816440"/>
            <a:ext cx="1318148" cy="791024"/>
          </a:xfrm>
          <a:prstGeom prst="bentConnector3">
            <a:avLst>
              <a:gd name="adj1" fmla="val 52040"/>
            </a:avLst>
          </a:prstGeom>
          <a:ln w="34925">
            <a:solidFill>
              <a:srgbClr val="34A04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547776DB-2720-4633-568E-6E3702AE0739}"/>
              </a:ext>
            </a:extLst>
          </p:cNvPr>
          <p:cNvSpPr/>
          <p:nvPr/>
        </p:nvSpPr>
        <p:spPr>
          <a:xfrm>
            <a:off x="6068179" y="3128327"/>
            <a:ext cx="519953" cy="283449"/>
          </a:xfrm>
          <a:prstGeom prst="roundRect">
            <a:avLst/>
          </a:prstGeom>
          <a:ln>
            <a:solidFill>
              <a:srgbClr val="34A04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86782563-62CE-2971-3C1C-CA42078A5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3B6A58FB-07AB-9F04-FBEB-07CC21D668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SG" dirty="0">
                <a:solidFill>
                  <a:srgbClr val="34A148"/>
                </a:solidFill>
              </a:rPr>
              <a:t>Job deduplication algorithm analysis</a:t>
            </a:r>
            <a:endParaRPr dirty="0"/>
          </a:p>
        </p:txBody>
      </p:sp>
      <p:pic>
        <p:nvPicPr>
          <p:cNvPr id="8" name="Picture 7">
            <a:hlinkClick r:id="rId3"/>
            <a:extLst>
              <a:ext uri="{FF2B5EF4-FFF2-40B4-BE49-F238E27FC236}">
                <a16:creationId xmlns:a16="http://schemas.microsoft.com/office/drawing/2014/main" id="{5027F885-C92E-A963-0B44-8FDEEF03D9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5635" y="1112279"/>
            <a:ext cx="5592727" cy="33824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D32C7E5-9895-2419-BE68-029CB917AA4D}"/>
              </a:ext>
            </a:extLst>
          </p:cNvPr>
          <p:cNvSpPr txBox="1"/>
          <p:nvPr/>
        </p:nvSpPr>
        <p:spPr>
          <a:xfrm>
            <a:off x="241286" y="4589261"/>
            <a:ext cx="86614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b="0" i="0" dirty="0">
                <a:solidFill>
                  <a:srgbClr val="4C5773"/>
                </a:solidFill>
                <a:effectLst/>
                <a:latin typeface="Lato" panose="020F0502020204030204" pitchFamily="34" charset="0"/>
              </a:rPr>
              <a:t>Link to dashboard:</a:t>
            </a:r>
          </a:p>
          <a:p>
            <a:r>
              <a:rPr lang="en-SG" dirty="0">
                <a:solidFill>
                  <a:srgbClr val="4C5773"/>
                </a:solidFill>
                <a:latin typeface="Lato" panose="020F0502020204030204" pitchFamily="34" charset="0"/>
                <a:hlinkClick r:id="rId3"/>
              </a:rPr>
              <a:t>https://</a:t>
            </a:r>
            <a:r>
              <a:rPr lang="en-SG" dirty="0" err="1">
                <a:solidFill>
                  <a:srgbClr val="4C5773"/>
                </a:solidFill>
                <a:latin typeface="Lato" panose="020F0502020204030204" pitchFamily="34" charset="0"/>
                <a:hlinkClick r:id="rId3"/>
              </a:rPr>
              <a:t>analytics.betalented.ai</a:t>
            </a:r>
            <a:r>
              <a:rPr lang="en-SG" dirty="0">
                <a:solidFill>
                  <a:srgbClr val="4C5773"/>
                </a:solidFill>
                <a:latin typeface="Lato" panose="020F0502020204030204" pitchFamily="34" charset="0"/>
                <a:hlinkClick r:id="rId3"/>
              </a:rPr>
              <a:t>/public/dashboard/10ff3837-491c-41da-9c10-334e5d7c05a8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127043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970</TotalTime>
  <Words>212</Words>
  <Application>Microsoft Macintosh PowerPoint</Application>
  <PresentationFormat>On-screen Show (16:9)</PresentationFormat>
  <Paragraphs>44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Lato</vt:lpstr>
      <vt:lpstr>Simple Light</vt:lpstr>
      <vt:lpstr>PowerPoint Presentation</vt:lpstr>
      <vt:lpstr>JobTech – Company Description Extraction</vt:lpstr>
      <vt:lpstr>JobTech – SSIC classifer </vt:lpstr>
      <vt:lpstr>Job deduplication workflow</vt:lpstr>
      <vt:lpstr>Job deduplication algorithm analysis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Eugene Liew</cp:lastModifiedBy>
  <cp:revision>15</cp:revision>
  <dcterms:modified xsi:type="dcterms:W3CDTF">2026-01-21T07:06:05Z</dcterms:modified>
</cp:coreProperties>
</file>