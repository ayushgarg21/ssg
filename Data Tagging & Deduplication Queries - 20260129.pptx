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9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A047"/>
    <a:srgbClr val="34A148"/>
    <a:srgbClr val="4BFF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A692FF5-E6FC-438C-B58F-97A4CF5DC275}">
  <a:tblStyle styleId="{3A692FF5-E6FC-438C-B58F-97A4CF5DC2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36"/>
    <p:restoredTop sz="94453"/>
  </p:normalViewPr>
  <p:slideViewPr>
    <p:cSldViewPr snapToGrid="0">
      <p:cViewPr varScale="1">
        <p:scale>
          <a:sx n="115" d="100"/>
          <a:sy n="115" d="100"/>
        </p:scale>
        <p:origin x="208" y="6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7890f585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7890f585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BD92A902-2F0D-E8C4-D6A6-05D7562DA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7890f5852_0_15:notes">
            <a:extLst>
              <a:ext uri="{FF2B5EF4-FFF2-40B4-BE49-F238E27FC236}">
                <a16:creationId xmlns:a16="http://schemas.microsoft.com/office/drawing/2014/main" id="{EBC95A58-9ACE-C75C-CB76-F7CF8CB6D9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7890f5852_0_15:notes">
            <a:extLst>
              <a:ext uri="{FF2B5EF4-FFF2-40B4-BE49-F238E27FC236}">
                <a16:creationId xmlns:a16="http://schemas.microsoft.com/office/drawing/2014/main" id="{437F12A0-7408-73CD-2679-6FF3F4719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4442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Picture 1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8961CC2D-A48E-ABC6-C24F-1C7D8650A2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046" y="98683"/>
            <a:ext cx="1496634" cy="2520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501AFF5-0D30-5567-30D7-7BDBB93859F0}"/>
              </a:ext>
            </a:extLst>
          </p:cNvPr>
          <p:cNvCxnSpPr/>
          <p:nvPr userDrawn="1"/>
        </p:nvCxnSpPr>
        <p:spPr>
          <a:xfrm>
            <a:off x="311700" y="997389"/>
            <a:ext cx="8378128" cy="0"/>
          </a:xfrm>
          <a:prstGeom prst="line">
            <a:avLst/>
          </a:prstGeom>
          <a:ln w="28575">
            <a:solidFill>
              <a:srgbClr val="34A1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nalytics.betalented.ai/public/dashboard/10ff3837-491c-41da-9c10-334e5d7c05a8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A74DED3-A356-907D-F5F3-D764D1DC73AD}"/>
              </a:ext>
            </a:extLst>
          </p:cNvPr>
          <p:cNvSpPr/>
          <p:nvPr/>
        </p:nvSpPr>
        <p:spPr>
          <a:xfrm>
            <a:off x="0" y="-25163"/>
            <a:ext cx="8310389" cy="5193825"/>
          </a:xfrm>
          <a:prstGeom prst="rect">
            <a:avLst/>
          </a:prstGeom>
          <a:solidFill>
            <a:srgbClr val="34A048">
              <a:alpha val="2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A379ED-806B-759D-7A8D-B2B09174FC8A}"/>
              </a:ext>
            </a:extLst>
          </p:cNvPr>
          <p:cNvSpPr/>
          <p:nvPr/>
        </p:nvSpPr>
        <p:spPr>
          <a:xfrm>
            <a:off x="4772666" y="0"/>
            <a:ext cx="4371333" cy="5143500"/>
          </a:xfrm>
          <a:prstGeom prst="rect">
            <a:avLst/>
          </a:prstGeom>
          <a:solidFill>
            <a:srgbClr val="34A048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D83063-81F2-1449-562D-5CB967D92421}"/>
              </a:ext>
            </a:extLst>
          </p:cNvPr>
          <p:cNvSpPr>
            <a:spLocks noChangeAspect="1"/>
          </p:cNvSpPr>
          <p:nvPr/>
        </p:nvSpPr>
        <p:spPr>
          <a:xfrm>
            <a:off x="4767380" y="1608992"/>
            <a:ext cx="4395779" cy="3534508"/>
          </a:xfrm>
          <a:prstGeom prst="rect">
            <a:avLst/>
          </a:prstGeom>
          <a:blipFill dpi="0" rotWithShape="1">
            <a:blip r:embed="rId3"/>
            <a:srcRect/>
            <a:stretch>
              <a:fillRect l="-969" t="-15902" r="-969" b="-1134"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F70644-BF41-B9F4-4EF2-EB04E3C88C16}"/>
              </a:ext>
            </a:extLst>
          </p:cNvPr>
          <p:cNvSpPr>
            <a:spLocks noChangeAspect="1"/>
          </p:cNvSpPr>
          <p:nvPr/>
        </p:nvSpPr>
        <p:spPr>
          <a:xfrm>
            <a:off x="6117853" y="601111"/>
            <a:ext cx="1776676" cy="40677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" name="Google Shape;66;p15">
            <a:extLst>
              <a:ext uri="{FF2B5EF4-FFF2-40B4-BE49-F238E27FC236}">
                <a16:creationId xmlns:a16="http://schemas.microsoft.com/office/drawing/2014/main" id="{908BEA2F-E268-850B-35C0-04465508D85C}"/>
              </a:ext>
            </a:extLst>
          </p:cNvPr>
          <p:cNvSpPr txBox="1">
            <a:spLocks/>
          </p:cNvSpPr>
          <p:nvPr/>
        </p:nvSpPr>
        <p:spPr>
          <a:xfrm>
            <a:off x="217422" y="2029319"/>
            <a:ext cx="4337823" cy="1585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SG" sz="3200" dirty="0"/>
              <a:t>Data Tagging &amp; Deduplication Queries</a:t>
            </a:r>
          </a:p>
          <a:p>
            <a:endParaRPr lang="en-SG" sz="3200" dirty="0"/>
          </a:p>
          <a:p>
            <a:r>
              <a:rPr lang="en-SG" sz="3200" dirty="0">
                <a:solidFill>
                  <a:schemeClr val="tx1"/>
                </a:solidFill>
                <a:latin typeface="+mn-lt"/>
              </a:rPr>
              <a:t>29 Jan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SG" dirty="0">
                <a:solidFill>
                  <a:srgbClr val="34A148"/>
                </a:solidFill>
              </a:rPr>
              <a:t>Job deduplication workflow</a:t>
            </a:r>
            <a:endParaRPr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25DE7C7-D0F4-6C3C-E2AE-D7F063EE40E7}"/>
              </a:ext>
            </a:extLst>
          </p:cNvPr>
          <p:cNvGrpSpPr/>
          <p:nvPr/>
        </p:nvGrpSpPr>
        <p:grpSpPr>
          <a:xfrm>
            <a:off x="493987" y="2332177"/>
            <a:ext cx="1549588" cy="907223"/>
            <a:chOff x="311701" y="1351883"/>
            <a:chExt cx="1549588" cy="907223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3626C5A1-2FF4-9813-C28A-53B2B84D3AE3}"/>
                </a:ext>
              </a:extLst>
            </p:cNvPr>
            <p:cNvSpPr/>
            <p:nvPr/>
          </p:nvSpPr>
          <p:spPr>
            <a:xfrm>
              <a:off x="311701" y="1351883"/>
              <a:ext cx="1549588" cy="907223"/>
            </a:xfrm>
            <a:prstGeom prst="roundRect">
              <a:avLst/>
            </a:prstGeom>
            <a:noFill/>
            <a:ln>
              <a:solidFill>
                <a:srgbClr val="34A0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0E5EDF81-0D50-DBED-56BA-1959593965E4}"/>
                </a:ext>
              </a:extLst>
            </p:cNvPr>
            <p:cNvSpPr/>
            <p:nvPr/>
          </p:nvSpPr>
          <p:spPr>
            <a:xfrm>
              <a:off x="408790" y="1427189"/>
              <a:ext cx="236669" cy="231028"/>
            </a:xfrm>
            <a:prstGeom prst="ellipse">
              <a:avLst/>
            </a:prstGeom>
            <a:solidFill>
              <a:srgbClr val="34A04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1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A8B9DF4-3B32-C36C-D4A5-F79468C5E942}"/>
                </a:ext>
              </a:extLst>
            </p:cNvPr>
            <p:cNvSpPr txBox="1"/>
            <p:nvPr/>
          </p:nvSpPr>
          <p:spPr>
            <a:xfrm>
              <a:off x="311702" y="1564110"/>
              <a:ext cx="1549587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Clean job descriptions and apply mini hash</a:t>
              </a:r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FE26790-0360-B48F-124F-13782DA3CF03}"/>
              </a:ext>
            </a:extLst>
          </p:cNvPr>
          <p:cNvCxnSpPr>
            <a:cxnSpLocks/>
            <a:stCxn id="2" idx="3"/>
            <a:endCxn id="51" idx="1"/>
          </p:cNvCxnSpPr>
          <p:nvPr/>
        </p:nvCxnSpPr>
        <p:spPr>
          <a:xfrm flipV="1">
            <a:off x="2043575" y="2782493"/>
            <a:ext cx="262210" cy="3296"/>
          </a:xfrm>
          <a:prstGeom prst="straightConnector1">
            <a:avLst/>
          </a:prstGeom>
          <a:ln w="34925">
            <a:solidFill>
              <a:srgbClr val="34A0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D8F87AAA-2D8F-9CBF-1C36-0491B04459C5}"/>
              </a:ext>
            </a:extLst>
          </p:cNvPr>
          <p:cNvCxnSpPr>
            <a:cxnSpLocks/>
            <a:stCxn id="58" idx="3"/>
            <a:endCxn id="74" idx="1"/>
          </p:cNvCxnSpPr>
          <p:nvPr/>
        </p:nvCxnSpPr>
        <p:spPr>
          <a:xfrm flipV="1">
            <a:off x="5712684" y="2171615"/>
            <a:ext cx="1230944" cy="644825"/>
          </a:xfrm>
          <a:prstGeom prst="bentConnector3">
            <a:avLst>
              <a:gd name="adj1" fmla="val 50000"/>
            </a:avLst>
          </a:prstGeom>
          <a:ln w="34925">
            <a:solidFill>
              <a:srgbClr val="34A0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5313B06-A00E-78A7-7FA1-9660837BCEDE}"/>
              </a:ext>
            </a:extLst>
          </p:cNvPr>
          <p:cNvGrpSpPr/>
          <p:nvPr/>
        </p:nvGrpSpPr>
        <p:grpSpPr>
          <a:xfrm>
            <a:off x="2305785" y="2328881"/>
            <a:ext cx="1595101" cy="907223"/>
            <a:chOff x="311701" y="1351883"/>
            <a:chExt cx="1595101" cy="907223"/>
          </a:xfrm>
        </p:grpSpPr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C3E5A633-4BFA-8F00-FC79-F92DB40F3947}"/>
                </a:ext>
              </a:extLst>
            </p:cNvPr>
            <p:cNvSpPr/>
            <p:nvPr/>
          </p:nvSpPr>
          <p:spPr>
            <a:xfrm>
              <a:off x="311701" y="1351883"/>
              <a:ext cx="1549588" cy="907223"/>
            </a:xfrm>
            <a:prstGeom prst="roundRect">
              <a:avLst/>
            </a:prstGeom>
            <a:noFill/>
            <a:ln>
              <a:solidFill>
                <a:srgbClr val="34A0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2B32AD7-C582-0C4F-BE23-7DB1B3EBF26F}"/>
                </a:ext>
              </a:extLst>
            </p:cNvPr>
            <p:cNvSpPr/>
            <p:nvPr/>
          </p:nvSpPr>
          <p:spPr>
            <a:xfrm>
              <a:off x="408790" y="1427189"/>
              <a:ext cx="236669" cy="231028"/>
            </a:xfrm>
            <a:prstGeom prst="ellipse">
              <a:avLst/>
            </a:prstGeom>
            <a:solidFill>
              <a:srgbClr val="34A04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2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1D54773-2593-FCA8-7A5A-FAA7CEC0114E}"/>
                </a:ext>
              </a:extLst>
            </p:cNvPr>
            <p:cNvSpPr txBox="1"/>
            <p:nvPr/>
          </p:nvSpPr>
          <p:spPr>
            <a:xfrm>
              <a:off x="357215" y="1639388"/>
              <a:ext cx="154958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Compare mini hash with jobs inserted past 60 days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1174437-29A3-8738-27A0-FB2F63A10A17}"/>
              </a:ext>
            </a:extLst>
          </p:cNvPr>
          <p:cNvGrpSpPr/>
          <p:nvPr/>
        </p:nvGrpSpPr>
        <p:grpSpPr>
          <a:xfrm>
            <a:off x="4117583" y="2328880"/>
            <a:ext cx="1595101" cy="907223"/>
            <a:chOff x="311701" y="1351883"/>
            <a:chExt cx="1595101" cy="907223"/>
          </a:xfrm>
        </p:grpSpPr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8880D6C0-D60D-9A93-AC83-31B5277052D8}"/>
                </a:ext>
              </a:extLst>
            </p:cNvPr>
            <p:cNvSpPr/>
            <p:nvPr/>
          </p:nvSpPr>
          <p:spPr>
            <a:xfrm>
              <a:off x="311701" y="1351883"/>
              <a:ext cx="1549588" cy="907223"/>
            </a:xfrm>
            <a:prstGeom prst="roundRect">
              <a:avLst/>
            </a:prstGeom>
            <a:noFill/>
            <a:ln>
              <a:solidFill>
                <a:srgbClr val="34A0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50F1722-6ED1-D7AD-1024-B378A3C443F3}"/>
                </a:ext>
              </a:extLst>
            </p:cNvPr>
            <p:cNvSpPr/>
            <p:nvPr/>
          </p:nvSpPr>
          <p:spPr>
            <a:xfrm>
              <a:off x="408790" y="1427189"/>
              <a:ext cx="236669" cy="231028"/>
            </a:xfrm>
            <a:prstGeom prst="ellipse">
              <a:avLst/>
            </a:prstGeom>
            <a:solidFill>
              <a:srgbClr val="34A04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3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BF73FF0-326B-CCEB-EC85-05BA7B6794C7}"/>
                </a:ext>
              </a:extLst>
            </p:cNvPr>
            <p:cNvSpPr txBox="1"/>
            <p:nvPr/>
          </p:nvSpPr>
          <p:spPr>
            <a:xfrm>
              <a:off x="357215" y="1639388"/>
              <a:ext cx="15495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Check if similarities </a:t>
              </a:r>
            </a:p>
            <a:p>
              <a:pPr algn="ctr"/>
              <a:r>
                <a:rPr lang="en-US" sz="1000" dirty="0"/>
                <a:t>&gt; 90%?</a:t>
              </a:r>
            </a:p>
          </p:txBody>
        </p:sp>
      </p:grp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D8CF71D-CF6C-F444-062C-529819BB42C5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3855373" y="2782492"/>
            <a:ext cx="262210" cy="0"/>
          </a:xfrm>
          <a:prstGeom prst="straightConnector1">
            <a:avLst/>
          </a:prstGeom>
          <a:ln w="34925">
            <a:solidFill>
              <a:srgbClr val="34A0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2D4BF66-326B-E777-4D8A-8C641F5AB3EA}"/>
              </a:ext>
            </a:extLst>
          </p:cNvPr>
          <p:cNvGrpSpPr/>
          <p:nvPr/>
        </p:nvGrpSpPr>
        <p:grpSpPr>
          <a:xfrm>
            <a:off x="6943628" y="1718003"/>
            <a:ext cx="1595101" cy="907223"/>
            <a:chOff x="311701" y="1351883"/>
            <a:chExt cx="1595101" cy="907223"/>
          </a:xfrm>
        </p:grpSpPr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04815AAE-99CA-B934-A174-FE41F24DD66E}"/>
                </a:ext>
              </a:extLst>
            </p:cNvPr>
            <p:cNvSpPr/>
            <p:nvPr/>
          </p:nvSpPr>
          <p:spPr>
            <a:xfrm>
              <a:off x="311701" y="1351883"/>
              <a:ext cx="1549588" cy="907223"/>
            </a:xfrm>
            <a:prstGeom prst="roundRect">
              <a:avLst/>
            </a:prstGeom>
            <a:noFill/>
            <a:ln>
              <a:solidFill>
                <a:srgbClr val="34A0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8192AAA-445D-B26A-FCC0-BDB53507AD97}"/>
                </a:ext>
              </a:extLst>
            </p:cNvPr>
            <p:cNvSpPr/>
            <p:nvPr/>
          </p:nvSpPr>
          <p:spPr>
            <a:xfrm>
              <a:off x="408790" y="1427189"/>
              <a:ext cx="236669" cy="231028"/>
            </a:xfrm>
            <a:prstGeom prst="ellipse">
              <a:avLst/>
            </a:prstGeom>
            <a:solidFill>
              <a:srgbClr val="34A04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4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09813E2-3CD5-F3E9-B20E-EBB6D6D01C44}"/>
                </a:ext>
              </a:extLst>
            </p:cNvPr>
            <p:cNvSpPr txBox="1"/>
            <p:nvPr/>
          </p:nvSpPr>
          <p:spPr>
            <a:xfrm>
              <a:off x="357215" y="1639388"/>
              <a:ext cx="15495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Set deduped id to the matching job</a:t>
              </a:r>
            </a:p>
          </p:txBody>
        </p:sp>
      </p:grp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3009F241-8C02-2180-01BB-3DCE908F0C84}"/>
              </a:ext>
            </a:extLst>
          </p:cNvPr>
          <p:cNvSpPr/>
          <p:nvPr/>
        </p:nvSpPr>
        <p:spPr>
          <a:xfrm>
            <a:off x="6068179" y="2351765"/>
            <a:ext cx="519953" cy="283449"/>
          </a:xfrm>
          <a:prstGeom prst="roundRect">
            <a:avLst/>
          </a:prstGeom>
          <a:ln>
            <a:solidFill>
              <a:srgbClr val="34A0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06295E9-5C01-98B2-ECFF-6DB940D94F32}"/>
              </a:ext>
            </a:extLst>
          </p:cNvPr>
          <p:cNvGrpSpPr/>
          <p:nvPr/>
        </p:nvGrpSpPr>
        <p:grpSpPr>
          <a:xfrm>
            <a:off x="6966384" y="3153852"/>
            <a:ext cx="1595101" cy="907223"/>
            <a:chOff x="311701" y="1351883"/>
            <a:chExt cx="1595101" cy="907223"/>
          </a:xfrm>
        </p:grpSpPr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FA05D5B5-B36B-2815-6E96-55ED1CB5E7B5}"/>
                </a:ext>
              </a:extLst>
            </p:cNvPr>
            <p:cNvSpPr/>
            <p:nvPr/>
          </p:nvSpPr>
          <p:spPr>
            <a:xfrm>
              <a:off x="311701" y="1351883"/>
              <a:ext cx="1549588" cy="907223"/>
            </a:xfrm>
            <a:prstGeom prst="roundRect">
              <a:avLst/>
            </a:prstGeom>
            <a:noFill/>
            <a:ln>
              <a:solidFill>
                <a:srgbClr val="34A0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3995EFA0-3665-DC04-E94C-6EDE7F1FD881}"/>
                </a:ext>
              </a:extLst>
            </p:cNvPr>
            <p:cNvSpPr/>
            <p:nvPr/>
          </p:nvSpPr>
          <p:spPr>
            <a:xfrm>
              <a:off x="408790" y="1427189"/>
              <a:ext cx="236669" cy="231028"/>
            </a:xfrm>
            <a:prstGeom prst="ellipse">
              <a:avLst/>
            </a:prstGeom>
            <a:solidFill>
              <a:srgbClr val="34A04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4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BE1E201-11FD-B557-9016-CE45A29D3145}"/>
                </a:ext>
              </a:extLst>
            </p:cNvPr>
            <p:cNvSpPr txBox="1"/>
            <p:nvPr/>
          </p:nvSpPr>
          <p:spPr>
            <a:xfrm>
              <a:off x="357215" y="1639388"/>
              <a:ext cx="154958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Insert the mini hash and job id into mini hash database</a:t>
              </a:r>
            </a:p>
          </p:txBody>
        </p:sp>
      </p:grp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4B0A1CA6-B93D-AE86-7C10-01A8FF2639AF}"/>
              </a:ext>
            </a:extLst>
          </p:cNvPr>
          <p:cNvCxnSpPr>
            <a:cxnSpLocks/>
            <a:endCxn id="79" idx="1"/>
          </p:cNvCxnSpPr>
          <p:nvPr/>
        </p:nvCxnSpPr>
        <p:spPr>
          <a:xfrm>
            <a:off x="5648236" y="2816440"/>
            <a:ext cx="1318148" cy="791024"/>
          </a:xfrm>
          <a:prstGeom prst="bentConnector3">
            <a:avLst>
              <a:gd name="adj1" fmla="val 52040"/>
            </a:avLst>
          </a:prstGeom>
          <a:ln w="34925">
            <a:solidFill>
              <a:srgbClr val="34A0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547776DB-2720-4633-568E-6E3702AE0739}"/>
              </a:ext>
            </a:extLst>
          </p:cNvPr>
          <p:cNvSpPr/>
          <p:nvPr/>
        </p:nvSpPr>
        <p:spPr>
          <a:xfrm>
            <a:off x="6068179" y="3128327"/>
            <a:ext cx="519953" cy="283449"/>
          </a:xfrm>
          <a:prstGeom prst="roundRect">
            <a:avLst/>
          </a:prstGeom>
          <a:ln>
            <a:solidFill>
              <a:srgbClr val="34A0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86782563-62CE-2971-3C1C-CA42078A5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3B6A58FB-07AB-9F04-FBEB-07CC21D668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SG" dirty="0">
                <a:solidFill>
                  <a:srgbClr val="34A148"/>
                </a:solidFill>
              </a:rPr>
              <a:t>Job deduplication algorithm analysis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32C7E5-9895-2419-BE68-029CB917AA4D}"/>
              </a:ext>
            </a:extLst>
          </p:cNvPr>
          <p:cNvSpPr txBox="1"/>
          <p:nvPr/>
        </p:nvSpPr>
        <p:spPr>
          <a:xfrm>
            <a:off x="6441899" y="2300473"/>
            <a:ext cx="229004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0" i="0" dirty="0">
                <a:solidFill>
                  <a:srgbClr val="4C5773"/>
                </a:solidFill>
                <a:effectLst/>
                <a:latin typeface="Lato" panose="020F0502020204030204" pitchFamily="34" charset="0"/>
              </a:rPr>
              <a:t>Link to dashboard:</a:t>
            </a:r>
          </a:p>
          <a:p>
            <a:r>
              <a:rPr lang="en-SG" dirty="0">
                <a:solidFill>
                  <a:srgbClr val="4C5773"/>
                </a:solidFill>
                <a:latin typeface="Lato" panose="020F0502020204030204" pitchFamily="34" charset="0"/>
                <a:hlinkClick r:id="rId3"/>
              </a:rPr>
              <a:t>https://</a:t>
            </a:r>
            <a:r>
              <a:rPr lang="en-SG" dirty="0" err="1">
                <a:solidFill>
                  <a:srgbClr val="4C5773"/>
                </a:solidFill>
                <a:latin typeface="Lato" panose="020F0502020204030204" pitchFamily="34" charset="0"/>
                <a:hlinkClick r:id="rId3"/>
              </a:rPr>
              <a:t>analytics.betalented.ai</a:t>
            </a:r>
            <a:r>
              <a:rPr lang="en-SG" dirty="0">
                <a:solidFill>
                  <a:srgbClr val="4C5773"/>
                </a:solidFill>
                <a:latin typeface="Lato" panose="020F0502020204030204" pitchFamily="34" charset="0"/>
                <a:hlinkClick r:id="rId3"/>
              </a:rPr>
              <a:t>/public/dashboard/10ff3837-491c-41da-9c10-334e5d7c05a8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6A0956-1B1C-4F3D-2BFD-036FF37ED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061" y="1081776"/>
            <a:ext cx="5174700" cy="398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27043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</TotalTime>
  <Words>79</Words>
  <Application>Microsoft Macintosh PowerPoint</Application>
  <PresentationFormat>On-screen Show (16:9)</PresentationFormat>
  <Paragraphs>20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Lato</vt:lpstr>
      <vt:lpstr>Simple Light</vt:lpstr>
      <vt:lpstr>PowerPoint Presentation</vt:lpstr>
      <vt:lpstr>Job deduplication workflow</vt:lpstr>
      <vt:lpstr>Job deduplication algorithm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Eugene Liew</cp:lastModifiedBy>
  <cp:revision>17</cp:revision>
  <dcterms:modified xsi:type="dcterms:W3CDTF">2026-01-26T07:48:09Z</dcterms:modified>
</cp:coreProperties>
</file>